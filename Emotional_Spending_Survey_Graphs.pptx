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ede0271d4d4617" /><Relationship Type="http://schemas.openxmlformats.org/officeDocument/2006/relationships/extended-properties" Target="/docProps/app.xml" Id="R0d91f3499f4240e5" /><Relationship Type="http://schemas.openxmlformats.org/officeDocument/2006/relationships/officeDocument" Target="/ppt/presentation.xml" Id="Rfa97cbbd0d2347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35c6a6465d4172"/>
  </p:sldMasterIdLst>
  <p:notesMasterIdLst>
    <p:notesMasterId xmlns:r="http://schemas.openxmlformats.org/officeDocument/2006/relationships" r:id="Rd8d55cc912364ac7"/>
  </p:notesMasterIdLst>
  <p:sldIdLst>
    <p:sldId xmlns:r="http://schemas.openxmlformats.org/officeDocument/2006/relationships" id="256" r:id="Ra4d697be1d7645ab"/>
    <p:sldId xmlns:r="http://schemas.openxmlformats.org/officeDocument/2006/relationships" id="257" r:id="R0b2cf710fcc943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dc9b90e8f0491d" /><Relationship Type="http://schemas.openxmlformats.org/officeDocument/2006/relationships/slideMaster" Target="/ppt/slideMasters/slideMaster1.xml" Id="R1235c6a6465d4172" /><Relationship Type="http://schemas.openxmlformats.org/officeDocument/2006/relationships/notesMaster" Target="/ppt/notesMasters/notesMaster1.xml" Id="Rd8d55cc912364ac7" /><Relationship Type="http://schemas.openxmlformats.org/officeDocument/2006/relationships/presProps" Target="/ppt/presProps.xml" Id="R7abe3044100946f1" /><Relationship Type="http://schemas.openxmlformats.org/officeDocument/2006/relationships/tableStyles" Target="/ppt/tableStyles.xml" Id="R796ea1b29a4d4ff3" /><Relationship Type="http://schemas.openxmlformats.org/officeDocument/2006/relationships/slide" Target="/ppt/slides/slide1.xml" Id="Ra4d697be1d7645ab" /><Relationship Type="http://schemas.openxmlformats.org/officeDocument/2006/relationships/slide" Target="/ppt/slides/slide2.xml" Id="R0b2cf710fcc943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00188471c54d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fc0e5ebeea4bb0" /><Relationship Type="http://schemas.openxmlformats.org/officeDocument/2006/relationships/notesMaster" Target="/ppt/notesMasters/notesMaster1.xml" Id="R54ef5c3306e944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ca62ad28f04dbf" /><Relationship Type="http://schemas.openxmlformats.org/officeDocument/2006/relationships/notesMaster" Target="/ppt/notesMasters/notesMaster1.xml" Id="R65275a1762e84c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first two bars use the full U.S. adult sample. The three consequence bars use the emotional-shopper subgroup.</a:t>
            </a:r>
          </a:p>
          <a:p xmlns:a="http://schemas.openxmlformats.org/drawingml/2006/main">
            <a:r>
              <a:t>Methodology: LendingTree commissioned QuestionPro to survey 2,000 U.S. consumers ages 18 to 79 online from June 2–3, 2025; nonprobability sample with quotas and quality-control review.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https://www.lendingtree.com/credit-cards/study/emotional-shopping/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Methodology: Qualtrics surveyed 1,008 U.S. adults ages 18 and older online on behalf of Credit Karma from February 22–27, 2023.</a:t>
            </a:r>
          </a:p>
          <a:p xmlns:a="http://schemas.openxmlformats.org/drawingml/2006/main">
            <a:r>
              <a:t>The ‘more than twice’ statement is an arithmetic comparison of 59% versus 24%.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https://www.creditkarma.com/about/commentary/emotional-spending-is-out-of-control-for-more-than-one-third-of-gen-z-study-finds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f5a195e8ca46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4dff322f02468a" /><Relationship Type="http://schemas.openxmlformats.org/officeDocument/2006/relationships/slideLayout" Target="/ppt/slideLayouts/slideLayout1.xml" Id="R7e69ee4ead3a49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69ee4ead3a49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bcb5f83d04713" /><Relationship Type="http://schemas.openxmlformats.org/officeDocument/2006/relationships/chart" Target="/ppt/slides/charts/chart1.xml" Id="R61f14eabf1b34a4a" /><Relationship Type="http://schemas.openxmlformats.org/officeDocument/2006/relationships/notesSlide" Target="/ppt/notesSlides/notesSlide1.xml" Id="Ra3c85649c49b4d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2a0f0d203436f" /><Relationship Type="http://schemas.openxmlformats.org/officeDocument/2006/relationships/chart" Target="/ppt/slides/charts/chart2.xml" Id="R2d7b31139ca34a5a" /><Relationship Type="http://schemas.openxmlformats.org/officeDocument/2006/relationships/notesSlide" Target="/ppt/notesSlides/notesSlide2.xml" Id="R82a3b9ac2d4b4ee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Share of respondents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 w="9525">
              <a:solidFill>
                <a:srgbClr val="7030A0"/>
              </a:solidFill>
              <a:prstDash val="solid"/>
            </a:ln>
          </c:spPr>
          <c:dPt>
            <c:idx val="0"/>
            <c:invertIfNegative val="0"/>
            <c:spPr>
              <a:solidFill xmlns:a="http://schemas.openxmlformats.org/drawingml/2006/main">
                <a:srgbClr val="7030A0">
                  <a:alpha val="48000"/>
                </a:srgbClr>
              </a:solidFill>
              <a:ln xmlns:a="http://schemas.openxmlformats.org/drawingml/2006/main" w="9525">
                <a:solidFill>
                  <a:srgbClr val="7030A0"/>
                </a:solidFill>
                <a:prstDash val="solid"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7030A0"/>
              </a:solidFill>
              <a:ln xmlns:a="http://schemas.openxmlformats.org/drawingml/2006/main" w="9525">
                <a:solidFill>
                  <a:srgbClr val="7030A0"/>
                </a:solidFill>
                <a:prstDash val="solid"/>
              </a:ln>
            </c:spPr>
          </c:dPt>
          <c:dPt>
            <c:idx val="2"/>
            <c:invertIfNegative val="0"/>
            <c:spPr>
              <a:solidFill xmlns:a="http://schemas.openxmlformats.org/drawingml/2006/main">
                <a:srgbClr val="66FF99"/>
              </a:solidFill>
              <a:ln xmlns:a="http://schemas.openxmlformats.org/drawingml/2006/main" w="14288">
                <a:solidFill>
                  <a:srgbClr val="7030A0"/>
                </a:solidFill>
                <a:prstDash val="solid"/>
              </a:ln>
            </c:spPr>
          </c:dPt>
          <c:dPt>
            <c:idx val="3"/>
            <c:invertIfNegative val="0"/>
            <c:spPr>
              <a:solidFill xmlns:a="http://schemas.openxmlformats.org/drawingml/2006/main">
                <a:srgbClr val="7030A0">
                  <a:alpha val="68000"/>
                </a:srgbClr>
              </a:solidFill>
              <a:ln xmlns:a="http://schemas.openxmlformats.org/drawingml/2006/main" w="9525">
                <a:solidFill>
                  <a:srgbClr val="7030A0"/>
                </a:solidFill>
                <a:prstDash val="solid"/>
              </a:ln>
            </c:spPr>
          </c:dPt>
          <c:dPt>
            <c:idx val="4"/>
            <c:invertIfNegative val="0"/>
            <c:spPr>
              <a:solidFill xmlns:a="http://schemas.openxmlformats.org/drawingml/2006/main">
                <a:srgbClr val="7030A0">
                  <a:alpha val="86000"/>
                </a:srgbClr>
              </a:solidFill>
              <a:ln xmlns:a="http://schemas.openxmlformats.org/drawingml/2006/main" w="9525">
                <a:solidFill>
                  <a:srgbClr val="7030A0"/>
                </a:solidFill>
                <a:prstDash val="solid"/>
              </a:ln>
            </c:spPr>
          </c:dPt>
          <c:cat>
            <c:strLit>
              <c:ptCount val="5"/>
              <c:pt idx="0">
                <c:v>Emotional shoppers · Financial well-being hurt</c:v>
              </c:pt>
              <c:pt idx="1">
                <c:v>Emotional shoppers · Regretted it</c:v>
              </c:pt>
              <c:pt idx="2">
                <c:v>Emotional shoppers · Overspent</c:v>
              </c:pt>
              <c:pt idx="3">
                <c:v>All adults · Shopped to improve mood</c:v>
              </c:pt>
              <c:pt idx="4">
                <c:v>All adults · Emotions influence purchases</c:v>
              </c:pt>
            </c:strLit>
          </c:cat>
          <c:val>
            <c:numLit>
              <c:formatCode>0%</c:formatCode>
              <c:ptCount val="5"/>
              <c:pt idx="0">
                <c:v>0.44</c:v>
              </c:pt>
              <c:pt idx="1">
                <c:v>0.69</c:v>
              </c:pt>
              <c:pt idx="2">
                <c:v>0.74</c:v>
              </c:pt>
              <c:pt idx="3">
                <c:v>0.47</c:v>
              </c:pt>
              <c:pt idx="4">
                <c:v>0.63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2E173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DCEC"/>
              </a:solidFill>
              <a:prstDash val="solid"/>
            </a:ln>
          </c:spPr>
        </c:majorGridlines>
        <c:numFmt formatCode="0%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E7DC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46C79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E173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Share of respondents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 w="9525">
              <a:solidFill>
                <a:srgbClr val="7030A0"/>
              </a:solidFill>
              <a:prstDash val="solid"/>
            </a:ln>
          </c:spPr>
          <c:dPt>
            <c:idx val="0"/>
            <c:invertIfNegative val="0"/>
            <c:spPr>
              <a:solidFill xmlns:a="http://schemas.openxmlformats.org/drawingml/2006/main">
                <a:srgbClr val="7030A0">
                  <a:alpha val="60000"/>
                </a:srgbClr>
              </a:solidFill>
              <a:ln xmlns:a="http://schemas.openxmlformats.org/drawingml/2006/main" w="9525">
                <a:solidFill>
                  <a:srgbClr val="7030A0"/>
                </a:solidFill>
                <a:prstDash val="solid"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7030A0"/>
              </a:solidFill>
              <a:ln xmlns:a="http://schemas.openxmlformats.org/drawingml/2006/main" w="9525">
                <a:solidFill>
                  <a:srgbClr val="7030A0"/>
                </a:solidFill>
                <a:prstDash val="solid"/>
              </a:ln>
            </c:spPr>
          </c:dPt>
          <c:dPt>
            <c:idx val="2"/>
            <c:invertIfNegative val="0"/>
            <c:spPr>
              <a:solidFill xmlns:a="http://schemas.openxmlformats.org/drawingml/2006/main">
                <a:srgbClr val="66FF99"/>
              </a:solidFill>
              <a:ln xmlns:a="http://schemas.openxmlformats.org/drawingml/2006/main" w="14288">
                <a:solidFill>
                  <a:srgbClr val="7030A0"/>
                </a:solidFill>
                <a:prstDash val="solid"/>
              </a:ln>
            </c:spPr>
          </c:dPt>
          <c:cat>
            <c:strLit>
              <c:ptCount val="3"/>
              <c:pt idx="0">
                <c:v>Emotional spending feels out of control</c:v>
              </c:pt>
              <c:pt idx="1">
                <c:v>Experienced buyer’s remorse</c:v>
              </c:pt>
              <c:pt idx="2">
                <c:v>Want to reduce their spending</c:v>
              </c:pt>
            </c:strLit>
          </c:cat>
          <c:val>
            <c:numLit>
              <c:formatCode>0%</c:formatCode>
              <c:ptCount val="3"/>
              <c:pt idx="0">
                <c:v>0.24</c:v>
              </c:pt>
              <c:pt idx="1">
                <c:v>0.45</c:v>
              </c:pt>
              <c:pt idx="2">
                <c:v>0.59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2E173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DCEC"/>
              </a:solidFill>
              <a:prstDash val="solid"/>
            </a:ln>
          </c:spPr>
        </c:majorGridlines>
        <c:numFmt formatCode="0%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E7DC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46C79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E173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mint-corner-1">
            <a:extLst xmlns:a="http://schemas.openxmlformats.org/drawingml/2006/main">
              <a:ext uri="{FF2B5EF4-FFF2-40B4-BE49-F238E27FC236}">
                <a16:creationId xmlns:a16="http://schemas.microsoft.com/office/drawing/2014/main" id="{1BDF2CE5-951F-41DE-A409-B2044D93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2590800"/>
          </a:xfrm>
          <a:custGeom xmlns:a="http://schemas.openxmlformats.org/drawingml/2006/main">
            <a:pathLst>
              <a:path w="2857500" h="2590800">
                <a:moveTo>
                  <a:pt x="0" y="552450"/>
                </a:moveTo>
                <a:lnTo>
                  <a:pt x="590550" y="0"/>
                </a:lnTo>
                <a:lnTo>
                  <a:pt x="2857500" y="0"/>
                </a:lnTo>
                <a:lnTo>
                  <a:pt x="0" y="2590800"/>
                </a:lnTo>
                <a:close/>
              </a:path>
            </a:pathLst>
          </a:custGeom>
          <a:solidFill xmlns:a="http://schemas.openxmlformats.org/drawingml/2006/main">
            <a:srgbClr val="66FF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mint-hairline-1">
            <a:extLst xmlns:a="http://schemas.openxmlformats.org/drawingml/2006/main">
              <a:ext uri="{FF2B5EF4-FFF2-40B4-BE49-F238E27FC236}">
                <a16:creationId xmlns:a16="http://schemas.microsoft.com/office/drawing/2014/main" id="{3C6FC17B-96EC-40A2-ABAA-B62AD944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066800"/>
            <a:ext cx="2362200" cy="2362200"/>
          </a:xfrm>
          <a:custGeom xmlns:a="http://schemas.openxmlformats.org/drawingml/2006/main">
            <a:pathLst>
              <a:path w="2362200" h="2362200">
                <a:moveTo>
                  <a:pt x="0" y="2362200"/>
                </a:moveTo>
                <a:lnTo>
                  <a:pt x="19050" y="2362200"/>
                </a:lnTo>
                <a:lnTo>
                  <a:pt x="2362200" y="19050"/>
                </a:lnTo>
                <a:lnTo>
                  <a:pt x="2362200" y="0"/>
                </a:lnTo>
                <a:close/>
              </a:path>
            </a:pathLst>
          </a:custGeom>
          <a:solidFill xmlns:a="http://schemas.openxmlformats.org/drawingml/2006/main">
            <a:srgbClr val="66FF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urple-corner-1">
            <a:extLst xmlns:a="http://schemas.openxmlformats.org/drawingml/2006/main">
              <a:ext uri="{FF2B5EF4-FFF2-40B4-BE49-F238E27FC236}">
                <a16:creationId xmlns:a16="http://schemas.microsoft.com/office/drawing/2014/main" id="{33E16232-04C7-4E9B-8811-58276512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29150"/>
            <a:ext cx="2286000" cy="2228850"/>
          </a:xfrm>
          <a:custGeom xmlns:a="http://schemas.openxmlformats.org/drawingml/2006/main">
            <a:pathLst>
              <a:path w="2286000" h="2228850">
                <a:moveTo>
                  <a:pt x="0" y="2228850"/>
                </a:moveTo>
                <a:lnTo>
                  <a:pt x="1695450" y="2228850"/>
                </a:lnTo>
                <a:lnTo>
                  <a:pt x="2286000" y="1581150"/>
                </a:lnTo>
                <a:lnTo>
                  <a:pt x="2286000" y="0"/>
                </a:lnTo>
                <a:close/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urple-hairline-1">
            <a:extLst xmlns:a="http://schemas.openxmlformats.org/drawingml/2006/main">
              <a:ext uri="{FF2B5EF4-FFF2-40B4-BE49-F238E27FC236}">
                <a16:creationId xmlns:a16="http://schemas.microsoft.com/office/drawing/2014/main" id="{4A3144CE-8CF4-4292-95F9-6DC11EC3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62375"/>
            <a:ext cx="1752600" cy="1752600"/>
          </a:xfrm>
          <a:custGeom xmlns:a="http://schemas.openxmlformats.org/drawingml/2006/main">
            <a:pathLst>
              <a:path w="1752600" h="1752600">
                <a:moveTo>
                  <a:pt x="0" y="1752600"/>
                </a:moveTo>
                <a:lnTo>
                  <a:pt x="19050" y="1752600"/>
                </a:lnTo>
                <a:lnTo>
                  <a:pt x="1752600" y="19050"/>
                </a:lnTo>
                <a:lnTo>
                  <a:pt x="1752600" y="0"/>
                </a:lnTo>
                <a:close/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rner-label-1">
            <a:extLst xmlns:a="http://schemas.openxmlformats.org/drawingml/2006/main">
              <a:ext uri="{FF2B5EF4-FFF2-40B4-BE49-F238E27FC236}">
                <a16:creationId xmlns:a16="http://schemas.microsoft.com/office/drawing/2014/main" id="{1BDF0100-8A7D-4787-A580-5398BC48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162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200" b="1">
                <a:solidFill>
                  <a:srgbClr val="7030A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30A0"/>
                </a:solidFill>
                <a:latin typeface="Aptos"/>
                <a:ea typeface="Aptos"/>
                <a:cs typeface="Aptos"/>
              </a:rPr>
              <a:t>SURVEY</a:t>
            </a:r>
          </a:p>
        </p:txBody>
      </p:sp>
      <p:sp>
        <p:nvSpPr>
          <p:cNvPr id="6" name="corner-number-1">
            <a:extLst xmlns:a="http://schemas.openxmlformats.org/drawingml/2006/main">
              <a:ext uri="{FF2B5EF4-FFF2-40B4-BE49-F238E27FC236}">
                <a16:creationId xmlns:a16="http://schemas.microsoft.com/office/drawing/2014/main" id="{1214073F-D190-46AB-ADC1-37CB12EA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1162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81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50" b="1">
                <a:solidFill>
                  <a:srgbClr val="7030A0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7030A0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7" name="slide-1-title">
            <a:extLst xmlns:a="http://schemas.openxmlformats.org/drawingml/2006/main">
              <a:ext uri="{FF2B5EF4-FFF2-40B4-BE49-F238E27FC236}">
                <a16:creationId xmlns:a16="http://schemas.microsoft.com/office/drawing/2014/main" id="{A63A0BBE-CEB3-4BEF-AA4E-51F70F63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10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74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2E17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E173D"/>
                </a:solidFill>
                <a:latin typeface="Aptos Display"/>
                <a:ea typeface="Aptos Display"/>
                <a:cs typeface="Aptos Display"/>
              </a:rPr>
              <a:t>Emotional shopping often ends in overspending</a:t>
            </a:r>
          </a:p>
        </p:txBody>
      </p:sp>
      <p:sp>
        <p:nvSpPr>
          <p:cNvPr id="8" name="slide-1-subtitle">
            <a:extLst xmlns:a="http://schemas.openxmlformats.org/drawingml/2006/main">
              <a:ext uri="{FF2B5EF4-FFF2-40B4-BE49-F238E27FC236}">
                <a16:creationId xmlns:a16="http://schemas.microsoft.com/office/drawing/2014/main" id="{288BE3E4-C8C7-426F-8AA1-4DFCB75F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9144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200" b="0">
                <a:solidFill>
                  <a:srgbClr val="746C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46C79"/>
                </a:solidFill>
                <a:latin typeface="Aptos"/>
                <a:ea typeface="Aptos"/>
                <a:cs typeface="Aptos"/>
              </a:rPr>
              <a:t>2025 U.S. survey  |  n=2,000 adults  |  LendingTree / QuestionPro</a:t>
            </a:r>
          </a:p>
        </p:txBody>
      </p:sp>
      <p:sp>
        <p:nvSpPr>
          <p:cNvPr id="9" name="slide-1-title-rule">
            <a:extLst xmlns:a="http://schemas.openxmlformats.org/drawingml/2006/main">
              <a:ext uri="{FF2B5EF4-FFF2-40B4-BE49-F238E27FC236}">
                <a16:creationId xmlns:a16="http://schemas.microsoft.com/office/drawing/2014/main" id="{ED4F4CA0-6F88-41A4-9DB7-039DE8D2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266825"/>
            <a:ext cx="1695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FF99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1428750" y="1524000"/>
          <a:ext xmlns:a="http://schemas.openxmlformats.org/drawingml/2006/main" cx="88582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1f14eabf1b34a4a"/>
          </a:graphicData>
        </a:graphic>
      </p:graphicFrame>
      <p:sp>
        <p:nvSpPr>
          <p:cNvPr id="11" name="slide-1-insight-rule">
            <a:extLst xmlns:a="http://schemas.openxmlformats.org/drawingml/2006/main">
              <a:ext uri="{FF2B5EF4-FFF2-40B4-BE49-F238E27FC236}">
                <a16:creationId xmlns:a16="http://schemas.microsoft.com/office/drawing/2014/main" id="{61E4CA77-C867-4B24-AE63-21BACC0F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572125"/>
            <a:ext cx="57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FF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lide-1-insight">
            <a:extLst xmlns:a="http://schemas.openxmlformats.org/drawingml/2006/main">
              <a:ext uri="{FF2B5EF4-FFF2-40B4-BE49-F238E27FC236}">
                <a16:creationId xmlns:a16="http://schemas.microsoft.com/office/drawing/2014/main" id="{34834591-B9B8-4F6F-A98B-2B14A77E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543550"/>
            <a:ext cx="628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99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500" b="1">
                <a:solidFill>
                  <a:srgbClr val="2E173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E173D"/>
                </a:solidFill>
                <a:latin typeface="Aptos Display"/>
                <a:ea typeface="Aptos Display"/>
                <a:cs typeface="Aptos Display"/>
              </a:rPr>
              <a:t>Among emotional shoppers, overspending is the most common reported consequence.</a:t>
            </a:r>
          </a:p>
        </p:txBody>
      </p:sp>
      <p:sp>
        <p:nvSpPr>
          <p:cNvPr id="13" name="slide-1-source-footer">
            <a:extLst xmlns:a="http://schemas.openxmlformats.org/drawingml/2006/main">
              <a:ext uri="{FF2B5EF4-FFF2-40B4-BE49-F238E27FC236}">
                <a16:creationId xmlns:a16="http://schemas.microsoft.com/office/drawing/2014/main" id="{34660D62-F34C-4AC3-A4B4-19B73E2D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200" b="0">
                <a:solidFill>
                  <a:srgbClr val="746C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46C79"/>
                </a:solidFill>
                <a:latin typeface="Aptos"/>
                <a:ea typeface="Aptos"/>
                <a:cs typeface="Aptos"/>
              </a:rPr>
              <a:t>Base note: 63% and 47% are all adults; 74%, 69%, and 44% are emotional shoppers.</a:t>
            </a:r>
          </a:p>
        </p:txBody>
      </p:sp>
    </p:spTree>
    <p:extLst>
      <p:ext uri="{BB962C8B-B14F-4D97-AF65-F5344CB8AC3E}">
        <p14:creationId xmlns:p14="http://schemas.microsoft.com/office/powerpoint/2010/main" val="16730780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mint-corner-2">
            <a:extLst xmlns:a="http://schemas.openxmlformats.org/drawingml/2006/main">
              <a:ext uri="{FF2B5EF4-FFF2-40B4-BE49-F238E27FC236}">
                <a16:creationId xmlns:a16="http://schemas.microsoft.com/office/drawing/2014/main" id="{827BF8AC-3DBB-4FEF-9A9E-20BAF13B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2590800"/>
          </a:xfrm>
          <a:custGeom xmlns:a="http://schemas.openxmlformats.org/drawingml/2006/main">
            <a:pathLst>
              <a:path w="2857500" h="2590800">
                <a:moveTo>
                  <a:pt x="0" y="552450"/>
                </a:moveTo>
                <a:lnTo>
                  <a:pt x="590550" y="0"/>
                </a:lnTo>
                <a:lnTo>
                  <a:pt x="2857500" y="0"/>
                </a:lnTo>
                <a:lnTo>
                  <a:pt x="0" y="2590800"/>
                </a:lnTo>
                <a:close/>
              </a:path>
            </a:pathLst>
          </a:custGeom>
          <a:solidFill xmlns:a="http://schemas.openxmlformats.org/drawingml/2006/main">
            <a:srgbClr val="66FF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mint-hairline-2">
            <a:extLst xmlns:a="http://schemas.openxmlformats.org/drawingml/2006/main">
              <a:ext uri="{FF2B5EF4-FFF2-40B4-BE49-F238E27FC236}">
                <a16:creationId xmlns:a16="http://schemas.microsoft.com/office/drawing/2014/main" id="{67EDFCBA-1F39-4F8D-8B46-F23E72C9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066800"/>
            <a:ext cx="2362200" cy="2362200"/>
          </a:xfrm>
          <a:custGeom xmlns:a="http://schemas.openxmlformats.org/drawingml/2006/main">
            <a:pathLst>
              <a:path w="2362200" h="2362200">
                <a:moveTo>
                  <a:pt x="0" y="2362200"/>
                </a:moveTo>
                <a:lnTo>
                  <a:pt x="19050" y="2362200"/>
                </a:lnTo>
                <a:lnTo>
                  <a:pt x="2362200" y="19050"/>
                </a:lnTo>
                <a:lnTo>
                  <a:pt x="2362200" y="0"/>
                </a:lnTo>
                <a:close/>
              </a:path>
            </a:pathLst>
          </a:custGeom>
          <a:solidFill xmlns:a="http://schemas.openxmlformats.org/drawingml/2006/main">
            <a:srgbClr val="66FF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urple-corner-2">
            <a:extLst xmlns:a="http://schemas.openxmlformats.org/drawingml/2006/main">
              <a:ext uri="{FF2B5EF4-FFF2-40B4-BE49-F238E27FC236}">
                <a16:creationId xmlns:a16="http://schemas.microsoft.com/office/drawing/2014/main" id="{7E38E09D-4664-4EF0-B3EB-4B15C30F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29150"/>
            <a:ext cx="2286000" cy="2228850"/>
          </a:xfrm>
          <a:custGeom xmlns:a="http://schemas.openxmlformats.org/drawingml/2006/main">
            <a:pathLst>
              <a:path w="2286000" h="2228850">
                <a:moveTo>
                  <a:pt x="0" y="2228850"/>
                </a:moveTo>
                <a:lnTo>
                  <a:pt x="1695450" y="2228850"/>
                </a:lnTo>
                <a:lnTo>
                  <a:pt x="2286000" y="1581150"/>
                </a:lnTo>
                <a:lnTo>
                  <a:pt x="2286000" y="0"/>
                </a:lnTo>
                <a:close/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urple-hairline-2">
            <a:extLst xmlns:a="http://schemas.openxmlformats.org/drawingml/2006/main">
              <a:ext uri="{FF2B5EF4-FFF2-40B4-BE49-F238E27FC236}">
                <a16:creationId xmlns:a16="http://schemas.microsoft.com/office/drawing/2014/main" id="{8CAF3161-D42E-4FC3-931E-7D1DE809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62375"/>
            <a:ext cx="1752600" cy="1752600"/>
          </a:xfrm>
          <a:custGeom xmlns:a="http://schemas.openxmlformats.org/drawingml/2006/main">
            <a:pathLst>
              <a:path w="1752600" h="1752600">
                <a:moveTo>
                  <a:pt x="0" y="1752600"/>
                </a:moveTo>
                <a:lnTo>
                  <a:pt x="19050" y="1752600"/>
                </a:lnTo>
                <a:lnTo>
                  <a:pt x="1752600" y="19050"/>
                </a:lnTo>
                <a:lnTo>
                  <a:pt x="1752600" y="0"/>
                </a:lnTo>
                <a:close/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rner-label-2">
            <a:extLst xmlns:a="http://schemas.openxmlformats.org/drawingml/2006/main">
              <a:ext uri="{FF2B5EF4-FFF2-40B4-BE49-F238E27FC236}">
                <a16:creationId xmlns:a16="http://schemas.microsoft.com/office/drawing/2014/main" id="{2B6EDCCA-48F8-484D-86FA-021B8600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162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200" b="1">
                <a:solidFill>
                  <a:srgbClr val="7030A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30A0"/>
                </a:solidFill>
                <a:latin typeface="Aptos"/>
                <a:ea typeface="Aptos"/>
                <a:cs typeface="Aptos"/>
              </a:rPr>
              <a:t>SURVEY</a:t>
            </a:r>
          </a:p>
        </p:txBody>
      </p:sp>
      <p:sp>
        <p:nvSpPr>
          <p:cNvPr id="6" name="corner-number-2">
            <a:extLst xmlns:a="http://schemas.openxmlformats.org/drawingml/2006/main">
              <a:ext uri="{FF2B5EF4-FFF2-40B4-BE49-F238E27FC236}">
                <a16:creationId xmlns:a16="http://schemas.microsoft.com/office/drawing/2014/main" id="{E2BFF6C6-2A97-4880-9A25-9EF110BA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1162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81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50" b="1">
                <a:solidFill>
                  <a:srgbClr val="7030A0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7030A0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7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EA652D53-5D4F-4524-A74A-717D1004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10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42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2E17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E173D"/>
                </a:solidFill>
                <a:latin typeface="Aptos Display"/>
                <a:ea typeface="Aptos Display"/>
                <a:cs typeface="Aptos Display"/>
              </a:rPr>
              <a:t>Regret is common—and most want to spend less</a:t>
            </a:r>
          </a:p>
        </p:txBody>
      </p:sp>
      <p:sp>
        <p:nvSpPr>
          <p:cNvPr id="8" name="slide-2-subtitle">
            <a:extLst xmlns:a="http://schemas.openxmlformats.org/drawingml/2006/main">
              <a:ext uri="{FF2B5EF4-FFF2-40B4-BE49-F238E27FC236}">
                <a16:creationId xmlns:a16="http://schemas.microsoft.com/office/drawing/2014/main" id="{89FD4452-A8B3-4DCA-AE1B-757C18CA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9144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200" b="0">
                <a:solidFill>
                  <a:srgbClr val="746C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46C79"/>
                </a:solidFill>
                <a:latin typeface="Aptos"/>
                <a:ea typeface="Aptos"/>
                <a:cs typeface="Aptos"/>
              </a:rPr>
              <a:t>2023 U.S. survey  |  n=1,008 adults  |  Credit Karma / Qualtrics</a:t>
            </a:r>
          </a:p>
        </p:txBody>
      </p:sp>
      <p:sp>
        <p:nvSpPr>
          <p:cNvPr id="9" name="slide-2-title-rule">
            <a:extLst xmlns:a="http://schemas.openxmlformats.org/drawingml/2006/main">
              <a:ext uri="{FF2B5EF4-FFF2-40B4-BE49-F238E27FC236}">
                <a16:creationId xmlns:a16="http://schemas.microsoft.com/office/drawing/2014/main" id="{417A0C9B-8B7C-4F38-A2BD-C292868B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266825"/>
            <a:ext cx="1695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FF99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1428750" y="1809750"/>
          <a:ext xmlns:a="http://schemas.openxmlformats.org/drawingml/2006/main" cx="88582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7b31139ca34a5a"/>
          </a:graphicData>
        </a:graphic>
      </p:graphicFrame>
      <p:sp>
        <p:nvSpPr>
          <p:cNvPr id="11" name="slide-2-insight-rule">
            <a:extLst xmlns:a="http://schemas.openxmlformats.org/drawingml/2006/main">
              <a:ext uri="{FF2B5EF4-FFF2-40B4-BE49-F238E27FC236}">
                <a16:creationId xmlns:a16="http://schemas.microsoft.com/office/drawing/2014/main" id="{33BBE845-9F4D-4B12-8A7D-B81E592F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3875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FF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lide-2-insight">
            <a:extLst xmlns:a="http://schemas.openxmlformats.org/drawingml/2006/main">
              <a:ext uri="{FF2B5EF4-FFF2-40B4-BE49-F238E27FC236}">
                <a16:creationId xmlns:a16="http://schemas.microsoft.com/office/drawing/2014/main" id="{DF31B05F-47AB-4646-B3F1-579B5109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200650"/>
            <a:ext cx="6429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984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500" b="1">
                <a:solidFill>
                  <a:srgbClr val="2E173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E173D"/>
                </a:solidFill>
                <a:latin typeface="Aptos Display"/>
                <a:ea typeface="Aptos Display"/>
                <a:cs typeface="Aptos Display"/>
              </a:rPr>
              <a:t>The desire to cut back is more than twice the share calling their spending “out of control.”</a:t>
            </a:r>
          </a:p>
        </p:txBody>
      </p:sp>
      <p:sp>
        <p:nvSpPr>
          <p:cNvPr id="13" name="slide-2-source-footer">
            <a:extLst xmlns:a="http://schemas.openxmlformats.org/drawingml/2006/main">
              <a:ext uri="{FF2B5EF4-FFF2-40B4-BE49-F238E27FC236}">
                <a16:creationId xmlns:a16="http://schemas.microsoft.com/office/drawing/2014/main" id="{5B2DF2F3-B013-4749-9B92-8D177FFE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200" b="0">
                <a:solidFill>
                  <a:srgbClr val="746C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46C79"/>
                </a:solidFill>
                <a:latin typeface="Aptos"/>
                <a:ea typeface="Aptos"/>
                <a:cs typeface="Aptos"/>
              </a:rPr>
              <a:t>All three figures are reported for the U.S. adult survey sample.</a:t>
            </a:r>
          </a:p>
        </p:txBody>
      </p:sp>
    </p:spTree>
    <p:extLst>
      <p:ext uri="{BB962C8B-B14F-4D97-AF65-F5344CB8AC3E}">
        <p14:creationId xmlns:p14="http://schemas.microsoft.com/office/powerpoint/2010/main" val="21312162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2026-08-15T19:30:40.6170000Z</dcterms:created>
  <dcterms:modified xsi:type="dcterms:W3CDTF">2026-08-15T19:30:40.6170000Z</dcterms:modified>
</coreProperties>
</file>